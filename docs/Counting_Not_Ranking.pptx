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325880" cy="50292"/>
          </a:xfrm>
          <a:prstGeom prst="rect">
            <a:avLst/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2724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  <a:cs typeface="Helvetica Neue"/>
              </a:rPr>
              <a:t>Amazon Seller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8E8E93"/>
                </a:solidFill>
                <a:latin typeface="Helvetica Neue"/>
                <a:cs typeface="Helvetica Neue"/>
              </a:rPr>
              <a:t>Counting, not ranking — a pipeline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Finding Signal for a Winning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34440" y="3246120"/>
            <a:ext cx="4160520" cy="155448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 w="2032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4AA9EE"/>
                </a:solidFill>
                <a:latin typeface="Helvetica Neue"/>
                <a:cs typeface="Helvetica Neue"/>
              </a:rPr>
              <a:t>Prebuilt Opportunity Finder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280" y="3246120"/>
            <a:ext cx="4160520" cy="155448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 w="20320">
            <a:solidFill>
              <a:srgbClr val="E0B8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E0B869"/>
                </a:solidFill>
                <a:latin typeface="Helvetica Neue"/>
                <a:cs typeface="Helvetica Neue"/>
              </a:rPr>
              <a:t>Money Loser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32120" y="4023359"/>
            <a:ext cx="1188720" cy="0"/>
          </a:xfrm>
          <a:prstGeom prst="line">
            <a:avLst/>
          </a:prstGeom>
          <a:ln w="2540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What I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2704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07A68"/>
                </a:solidFill>
                <a:latin typeface="Helvetica Neue"/>
                <a:cs typeface="Helvetica Neue"/>
              </a:rPr>
              <a:t>✗  </a:t>
            </a:r>
            <a:r>
              <a:rPr sz="1400" b="0" i="0">
                <a:solidFill>
                  <a:srgbClr val="C4C4C8"/>
                </a:solidFill>
                <a:latin typeface="Helvetica Neue"/>
                <a:cs typeface="Helvetica Neue"/>
              </a:rPr>
              <a:t>One winning product</a:t>
            </a:r>
            <a:r>
              <a:rPr sz="1400" b="0" i="0">
                <a:solidFill>
                  <a:srgbClr val="C4C4C8"/>
                </a:solidFill>
                <a:latin typeface="Helvetica Neue"/>
                <a:cs typeface="Helvetica Neue"/>
              </a:rPr>
              <a:t>          </a:t>
            </a:r>
            <a:r>
              <a:rPr sz="1500" b="1" i="0">
                <a:solidFill>
                  <a:srgbClr val="5CB885"/>
                </a:solidFill>
                <a:latin typeface="Helvetica Neue"/>
                <a:cs typeface="Helvetica Neue"/>
              </a:rPr>
              <a:t>✓  </a:t>
            </a:r>
            <a:r>
              <a:rPr sz="1400" b="0" i="0">
                <a:solidFill>
                  <a:srgbClr val="C4C4C8"/>
                </a:solidFill>
                <a:latin typeface="Helvetica Neue"/>
                <a:cs typeface="Helvetica Neue"/>
              </a:rPr>
              <a:t>Launching trend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3794760" cy="416052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239572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5CB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00000"/>
                </a:solidFill>
                <a:latin typeface="Helvetica Neue"/>
                <a:cs typeface="Helvetica Neue"/>
              </a:rPr>
              <a:t>Must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907792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50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  <a:cs typeface="Helvetica Neue"/>
              </a:rPr>
              <a:t>Clean data</a:t>
            </a:r>
          </a:p>
          <a:p>
            <a:pPr algn="l" marL="219456" indent="-219456">
              <a:lnSpc>
                <a:spcPct val="150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  <a:cs typeface="Helvetica Neue"/>
              </a:rPr>
              <a:t>Good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42976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C4C4C8"/>
                </a:solidFill>
                <a:latin typeface="Helvetica Neue"/>
                <a:cs typeface="Helvetica Neue"/>
              </a:rPr>
              <a:t>Nice to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4809744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40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  <a:cs typeface="Helvetica Neue"/>
              </a:rPr>
              <a:t>Natural language interaction</a:t>
            </a:r>
          </a:p>
        </p:txBody>
      </p:sp>
      <p:pic>
        <p:nvPicPr>
          <p:cNvPr id="9" name="Picture 8" descr="shot_1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153" y="2057400"/>
            <a:ext cx="4343083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Pipeline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1377" y="1539537"/>
            <a:ext cx="4572000" cy="19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6" b="1" i="0">
                <a:solidFill>
                  <a:srgbClr val="9B8FC7"/>
                </a:solidFill>
                <a:latin typeface="Helvetica Neue"/>
                <a:cs typeface="Helvetica Neue"/>
              </a:rPr>
              <a:t>DATA INGESTION — BUILT ONCE, OFFLINE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7350" y="1747936"/>
            <a:ext cx="2773496" cy="43792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9A9A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091" b="0" i="0">
                <a:solidFill>
                  <a:srgbClr val="C4C4C8"/>
                </a:solidFill>
                <a:latin typeface="Helvetica Neue"/>
                <a:cs typeface="Helvetica Neue"/>
              </a:rPr>
              <a:t>Keepa API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+ embedding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50847" y="1966896"/>
            <a:ext cx="3080040" cy="0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06055" y="1747936"/>
            <a:ext cx="2043628" cy="437920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2032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091" b="1" i="0">
                <a:solidFill>
                  <a:srgbClr val="FFFFFF"/>
                </a:solidFill>
                <a:latin typeface="Helvetica Neue"/>
                <a:cs typeface="Helvetica Neue"/>
              </a:rPr>
              <a:t>ChromaDB Index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4098" y="2185856"/>
            <a:ext cx="0" cy="204363"/>
          </a:xfrm>
          <a:prstGeom prst="line">
            <a:avLst/>
          </a:prstGeom>
          <a:ln w="16510">
            <a:solidFill>
              <a:srgbClr val="9B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715271" y="2390219"/>
            <a:ext cx="948827" cy="0"/>
          </a:xfrm>
          <a:prstGeom prst="line">
            <a:avLst/>
          </a:prstGeom>
          <a:ln w="16510">
            <a:solidFill>
              <a:srgbClr val="9B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15271" y="2390219"/>
            <a:ext cx="0" cy="759062"/>
          </a:xfrm>
          <a:prstGeom prst="line">
            <a:avLst/>
          </a:prstGeom>
          <a:ln w="16510">
            <a:solidFill>
              <a:srgbClr val="9B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15271" y="3149281"/>
            <a:ext cx="437920" cy="0"/>
          </a:xfrm>
          <a:prstGeom prst="line">
            <a:avLst/>
          </a:prstGeom>
          <a:ln w="16510">
            <a:solidFill>
              <a:srgbClr val="9B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7870" y="2185856"/>
            <a:ext cx="0" cy="145974"/>
          </a:xfrm>
          <a:prstGeom prst="line">
            <a:avLst/>
          </a:prstGeom>
          <a:ln w="16510">
            <a:solidFill>
              <a:srgbClr val="9B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7870" y="2331830"/>
            <a:ext cx="2291784" cy="0"/>
          </a:xfrm>
          <a:prstGeom prst="line">
            <a:avLst/>
          </a:prstGeom>
          <a:ln w="16510">
            <a:solidFill>
              <a:srgbClr val="9B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19654" y="2331830"/>
            <a:ext cx="0" cy="1649500"/>
          </a:xfrm>
          <a:prstGeom prst="line">
            <a:avLst/>
          </a:prstGeom>
          <a:ln w="16510">
            <a:solidFill>
              <a:srgbClr val="9B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76025" y="3981330"/>
            <a:ext cx="2043629" cy="0"/>
          </a:xfrm>
          <a:prstGeom prst="line">
            <a:avLst/>
          </a:prstGeom>
          <a:ln w="16510">
            <a:solidFill>
              <a:srgbClr val="9B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58900" y="2331830"/>
            <a:ext cx="3211416" cy="437920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64" b="1" i="0">
                <a:solidFill>
                  <a:srgbClr val="FFFFFF"/>
                </a:solidFill>
                <a:latin typeface="Helvetica Neue"/>
                <a:cs typeface="Helvetica Neue"/>
              </a:rPr>
              <a:t>Query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live user question or eval run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64608" y="2769750"/>
            <a:ext cx="0" cy="175168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53191" y="2944918"/>
            <a:ext cx="6422833" cy="496309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2540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79" b="1" i="0">
                <a:solidFill>
                  <a:srgbClr val="FFFFFF"/>
                </a:solidFill>
                <a:latin typeface="Helvetica Neue"/>
                <a:cs typeface="Helvetica Neue"/>
              </a:rPr>
              <a:t>cat_selector_agent</a:t>
            </a:r>
          </a:p>
          <a:p>
            <a:pPr algn="ctr">
              <a:lnSpc>
                <a:spcPct val="105000"/>
              </a:lnSpc>
            </a:pPr>
            <a:r>
              <a:rPr sz="919" b="0" i="0">
                <a:solidFill>
                  <a:srgbClr val="4AA9EE"/>
                </a:solidFill>
                <a:latin typeface="Helvetica Neue"/>
                <a:cs typeface="Helvetica Neue"/>
              </a:rPr>
              <a:t>clarify?  ·  concept  ·  categories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64608" y="3441228"/>
            <a:ext cx="0" cy="87584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642121" y="3528812"/>
            <a:ext cx="1722487" cy="0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42121" y="3528812"/>
            <a:ext cx="0" cy="233558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64608" y="3441228"/>
            <a:ext cx="0" cy="87584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64608" y="3528812"/>
            <a:ext cx="1707890" cy="0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72498" y="3528812"/>
            <a:ext cx="0" cy="233558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53191" y="3553971"/>
            <a:ext cx="1371600" cy="19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6" b="1" i="0">
                <a:solidFill>
                  <a:srgbClr val="4AA9EE"/>
                </a:solidFill>
                <a:latin typeface="Helvetica Neue"/>
                <a:cs typeface="Helvetica Neue"/>
              </a:rPr>
              <a:t>SIMPLE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3568" y="3553971"/>
            <a:ext cx="1828800" cy="19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6" b="1" i="0">
                <a:solidFill>
                  <a:srgbClr val="E0B869"/>
                </a:solidFill>
                <a:latin typeface="Helvetica Neue"/>
                <a:cs typeface="Helvetica Neue"/>
              </a:rPr>
              <a:t>STRUCTURED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53191" y="3762370"/>
            <a:ext cx="2992456" cy="467115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64" b="1" i="0">
                <a:solidFill>
                  <a:srgbClr val="FFFFFF"/>
                </a:solidFill>
                <a:latin typeface="Helvetica Neue"/>
                <a:cs typeface="Helvetica Neue"/>
              </a:rPr>
              <a:t>Rank / Rerank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every item scored, no cap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83568" y="3762370"/>
            <a:ext cx="2992456" cy="467115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64" b="1" i="0">
                <a:solidFill>
                  <a:srgbClr val="FFFFFF"/>
                </a:solidFill>
                <a:latin typeface="Helvetica Neue"/>
                <a:cs typeface="Helvetica Neue"/>
              </a:rPr>
              <a:t>classifier_agent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confident vs. candidate paths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72498" y="4229485"/>
            <a:ext cx="0" cy="175168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83568" y="4433848"/>
            <a:ext cx="2992456" cy="467115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64" b="1" i="0">
                <a:solidFill>
                  <a:srgbClr val="FFFFFF"/>
                </a:solidFill>
                <a:latin typeface="Helvetica Neue"/>
                <a:cs typeface="Helvetica Neue"/>
              </a:rPr>
              <a:t>Rerank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candidate paths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2804" y="4602204"/>
            <a:ext cx="192024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• also scored for eval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42121" y="4229485"/>
            <a:ext cx="0" cy="846646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42121" y="5076131"/>
            <a:ext cx="992620" cy="0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34741" y="5076131"/>
            <a:ext cx="0" cy="20436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72498" y="4900963"/>
            <a:ext cx="0" cy="175168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94475" y="5076131"/>
            <a:ext cx="978023" cy="0"/>
          </a:xfrm>
          <a:prstGeom prst="line">
            <a:avLst/>
          </a:prstGeom>
          <a:ln w="1651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4475" y="5076131"/>
            <a:ext cx="0" cy="20436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233069" y="5054721"/>
            <a:ext cx="10515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mode-selected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58900" y="5280494"/>
            <a:ext cx="3211416" cy="467115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2540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79" b="1" i="0">
                <a:solidFill>
                  <a:srgbClr val="FFFFFF"/>
                </a:solidFill>
                <a:latin typeface="Helvetica Neue"/>
                <a:cs typeface="Helvetica Neue"/>
              </a:rPr>
              <a:t>analysis_agent</a:t>
            </a:r>
          </a:p>
          <a:p>
            <a:pPr algn="ctr">
              <a:lnSpc>
                <a:spcPct val="105000"/>
              </a:lnSpc>
            </a:pPr>
            <a:r>
              <a:rPr sz="919" b="0" i="0">
                <a:solidFill>
                  <a:srgbClr val="4AA9EE"/>
                </a:solidFill>
                <a:latin typeface="Helvetica Neue"/>
                <a:cs typeface="Helvetica Neue"/>
              </a:rPr>
              <a:t>tool calling → report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64608" y="5747609"/>
            <a:ext cx="0" cy="145974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758900" y="5951972"/>
            <a:ext cx="3211416" cy="379531"/>
          </a:xfrm>
          <a:prstGeom prst="roundRect">
            <a:avLst>
              <a:gd name="adj" fmla="val 6000"/>
            </a:avLst>
          </a:prstGeom>
          <a:solidFill>
            <a:srgbClr val="3A3A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06" b="1" i="0">
                <a:solidFill>
                  <a:srgbClr val="FFFFFF"/>
                </a:solidFill>
                <a:latin typeface="Helvetica Neue"/>
                <a:cs typeface="Helvetica Neue"/>
              </a:rPr>
              <a:t>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Golden Dataset Benchmark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00784"/>
            <a:ext cx="5065776" cy="2939796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883663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AA9EE"/>
                </a:solidFill>
                <a:latin typeface="Helvetica Neue"/>
                <a:cs typeface="Helvetica Neue"/>
              </a:rPr>
              <a:t>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9736" y="1883663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 i="0">
                <a:solidFill>
                  <a:srgbClr val="4AA9EE"/>
                </a:solidFill>
                <a:latin typeface="Helvetica Neue"/>
                <a:cs typeface="Helvetica Neue"/>
              </a:rPr>
              <a:t>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" y="2139696"/>
            <a:ext cx="2304288" cy="10972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212848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invisible unicorn leash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9736" y="2212848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446020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electric guitar 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446020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79191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left-handed scissors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679191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912364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dog Halloween costume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2912364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145536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gluten free pasta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3145536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378708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ice tray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3378708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611880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yoga 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3611880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845052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graduation gown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9736" y="3845052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4078224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wireless gaming mouse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9736" y="4078224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1256" y="1883663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4AA9EE"/>
                </a:solidFill>
                <a:latin typeface="Helvetica Neue"/>
                <a:cs typeface="Helvetica Neue"/>
              </a:rPr>
              <a:t>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1883663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 i="0">
                <a:solidFill>
                  <a:srgbClr val="4AA9EE"/>
                </a:solidFill>
                <a:latin typeface="Helvetica Neue"/>
                <a:cs typeface="Helvetica Neue"/>
              </a:rPr>
              <a:t>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91256" y="2139696"/>
            <a:ext cx="2304288" cy="10972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2212848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birthday party balloons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2212848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256" y="2446020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dog drinking bowl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1768" y="2446020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91256" y="2679191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bluetooth speaker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2679191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1256" y="2912364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baby toys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2912364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91256" y="3145536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essential oil diffuser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3145536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91256" y="3378708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kids costumes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1768" y="3378708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91256" y="3611880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car phone mount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1768" y="3611880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91256" y="3845052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solar powered garden light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1768" y="3845052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91256" y="4078224"/>
            <a:ext cx="18653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C4C8"/>
                </a:solidFill>
                <a:latin typeface="Helvetica Neue"/>
                <a:cs typeface="Helvetica Neue"/>
              </a:rPr>
              <a:t>summer dress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1768" y="4078224"/>
            <a:ext cx="566928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Helvetica Neue"/>
                <a:cs typeface="Helvetica Neue"/>
              </a:rPr>
              <a:t>453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2062" y="1933501"/>
            <a:ext cx="148132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  <a:cs typeface="Helvetica Neue"/>
              </a:rPr>
              <a:t>PRECISION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63190" y="4434696"/>
            <a:ext cx="1099073" cy="0"/>
          </a:xfrm>
          <a:prstGeom prst="line">
            <a:avLst/>
          </a:prstGeom>
          <a:ln w="15240">
            <a:solidFill>
              <a:srgbClr val="4A5B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245620" y="3668642"/>
            <a:ext cx="384675" cy="766053"/>
          </a:xfrm>
          <a:prstGeom prst="roundRect">
            <a:avLst>
              <a:gd name="adj" fmla="val 2000"/>
            </a:avLst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437958" y="3028982"/>
            <a:ext cx="0" cy="1278771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13229" y="3028982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413229" y="4307753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80758" y="2819353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0.36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7334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simple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95157" y="3175158"/>
            <a:ext cx="384675" cy="1259537"/>
          </a:xfrm>
          <a:prstGeom prst="roundRect">
            <a:avLst>
              <a:gd name="adj" fmla="val 2000"/>
            </a:avLst>
          </a:prstGeom>
          <a:solidFill>
            <a:srgbClr val="E0B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987495" y="2566272"/>
            <a:ext cx="0" cy="1218322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62766" y="2566272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62766" y="3784594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530295" y="2356644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0.59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6871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structured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6966" y="4543799"/>
            <a:ext cx="73152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7A68"/>
                </a:solidFill>
                <a:latin typeface="Helvetica Neue"/>
                <a:cs typeface="Helvetica Neue"/>
              </a:rPr>
              <a:t>~2x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0857" y="1933501"/>
            <a:ext cx="148132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  <a:cs typeface="Helvetica Neue"/>
              </a:rPr>
              <a:t>RECALL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591985" y="4434696"/>
            <a:ext cx="1099073" cy="0"/>
          </a:xfrm>
          <a:prstGeom prst="line">
            <a:avLst/>
          </a:prstGeom>
          <a:ln w="15240">
            <a:solidFill>
              <a:srgbClr val="4A5B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7674415" y="3103719"/>
            <a:ext cx="384675" cy="1330977"/>
          </a:xfrm>
          <a:prstGeom prst="roundRect">
            <a:avLst>
              <a:gd name="adj" fmla="val 2000"/>
            </a:avLst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866753" y="2464608"/>
            <a:ext cx="0" cy="1277672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842024" y="2464608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842024" y="3742280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409553" y="2254979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0.72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6129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simple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23952" y="2872913"/>
            <a:ext cx="384675" cy="1561782"/>
          </a:xfrm>
          <a:prstGeom prst="roundRect">
            <a:avLst>
              <a:gd name="adj" fmla="val 2000"/>
            </a:avLst>
          </a:prstGeom>
          <a:solidFill>
            <a:srgbClr val="E0B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8416290" y="2566272"/>
            <a:ext cx="0" cy="613832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91560" y="2566272"/>
            <a:ext cx="49459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91560" y="3180104"/>
            <a:ext cx="49459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959089" y="2356644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0.84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95665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structured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5761" y="4543799"/>
            <a:ext cx="73152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7A68"/>
                </a:solidFill>
                <a:latin typeface="Helvetica Neue"/>
                <a:cs typeface="Helvetica Neue"/>
              </a:rPr>
              <a:t>1.2x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29652" y="1933501"/>
            <a:ext cx="148132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  <a:cs typeface="Helvetica Neue"/>
              </a:rPr>
              <a:t>LATENCY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020780" y="4434696"/>
            <a:ext cx="1099073" cy="0"/>
          </a:xfrm>
          <a:prstGeom prst="line">
            <a:avLst/>
          </a:prstGeom>
          <a:ln w="15240">
            <a:solidFill>
              <a:srgbClr val="4A5B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9103210" y="4258295"/>
            <a:ext cx="384675" cy="176401"/>
          </a:xfrm>
          <a:prstGeom prst="roundRect">
            <a:avLst>
              <a:gd name="adj" fmla="val 2000"/>
            </a:avLst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295548" y="4154432"/>
            <a:ext cx="0" cy="20717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270819" y="4154432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270819" y="4361608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838348" y="3944804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48s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74924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simple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52747" y="3171861"/>
            <a:ext cx="384675" cy="1262834"/>
          </a:xfrm>
          <a:prstGeom prst="roundRect">
            <a:avLst>
              <a:gd name="adj" fmla="val 2000"/>
            </a:avLst>
          </a:prstGeom>
          <a:solidFill>
            <a:srgbClr val="E0B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845084" y="2566272"/>
            <a:ext cx="0" cy="1211728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820355" y="2566272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20355" y="3778000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387884" y="2356644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345s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24460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structured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04556" y="4543799"/>
            <a:ext cx="73152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7A68"/>
                </a:solidFill>
                <a:latin typeface="Helvetica Neue"/>
                <a:cs typeface="Helvetica Neue"/>
              </a:rPr>
              <a:t>7x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58447" y="1933501"/>
            <a:ext cx="148132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  <a:cs typeface="Helvetica Neue"/>
              </a:rPr>
              <a:t>COST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449574" y="4434696"/>
            <a:ext cx="1099073" cy="0"/>
          </a:xfrm>
          <a:prstGeom prst="line">
            <a:avLst/>
          </a:prstGeom>
          <a:ln w="15240">
            <a:solidFill>
              <a:srgbClr val="4A5B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532005" y="4390733"/>
            <a:ext cx="384675" cy="43962"/>
          </a:xfrm>
          <a:prstGeom prst="roundRect">
            <a:avLst>
              <a:gd name="adj" fmla="val 2000"/>
            </a:avLst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0724343" y="4356662"/>
            <a:ext cx="0" cy="67593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699614" y="4356662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699614" y="4424255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0267143" y="4147033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$0.0009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03719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simple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081541" y="3328479"/>
            <a:ext cx="384675" cy="1106216"/>
          </a:xfrm>
          <a:prstGeom prst="roundRect">
            <a:avLst>
              <a:gd name="adj" fmla="val 2000"/>
            </a:avLst>
          </a:prstGeom>
          <a:solidFill>
            <a:srgbClr val="E0B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11273879" y="2566272"/>
            <a:ext cx="0" cy="152496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1249150" y="2566272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1249150" y="4091236"/>
            <a:ext cx="49458" cy="0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0816679" y="2356644"/>
            <a:ext cx="9144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$0.021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53255" y="4395424"/>
            <a:ext cx="841248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4C4C8"/>
                </a:solidFill>
                <a:latin typeface="Helvetica Neue"/>
                <a:cs typeface="Helvetica Neue"/>
              </a:rPr>
              <a:t>structured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33351" y="4543799"/>
            <a:ext cx="73152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7A68"/>
                </a:solidFill>
                <a:latin typeface="Helvetica Neue"/>
                <a:cs typeface="Helvetica Neue"/>
              </a:rPr>
              <a:t>25x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02920" y="5870448"/>
            <a:ext cx="3931920" cy="4572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 w="1397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LEGION STANDARD   </a:t>
            </a:r>
            <a:r>
              <a:rPr sz="1100" b="1" i="0">
                <a:solidFill>
                  <a:srgbClr val="C4C4C8"/>
                </a:solidFill>
                <a:latin typeface="Helvetica Neue"/>
                <a:cs typeface="Helvetica Neue"/>
              </a:rPr>
              <a:t>Diverse, Immutable, Versioned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6437376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A6A6E"/>
                </a:solidFill>
                <a:latin typeface="Helvetica Neue"/>
                <a:cs typeface="Helvetica Neue"/>
              </a:rPr>
              <a:t>Source: legionintel.com/command-papers/ai-agent-evaluation-building-an-evaluation-platform-that-scales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Clear No-Go = $$ 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93821" y="1572768"/>
            <a:ext cx="82040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E07A68"/>
                </a:solidFill>
                <a:latin typeface="Helvetica Neue"/>
                <a:cs typeface="Helvetica Neue"/>
              </a:rPr>
              <a:t>A confident zero is a result, not a failure — it saves the launch spend.</a:t>
            </a:r>
          </a:p>
        </p:txBody>
      </p:sp>
      <p:pic>
        <p:nvPicPr>
          <p:cNvPr id="4" name="Picture 3" descr="sho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21" y="2011680"/>
            <a:ext cx="8204526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1325880" cy="50292"/>
          </a:xfrm>
          <a:prstGeom prst="rect">
            <a:avLst/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7004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  <a:cs typeface="Helvetica Neue"/>
              </a:rPr>
              <a:t>AI Tender Review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4C4C8"/>
                </a:solidFill>
                <a:latin typeface="Helvetica Neue"/>
                <a:cs typeface="Helvetica Neue"/>
              </a:rPr>
              <a:t>A case study in deploying AI for compliance in a regulated environment — tender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9028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  <a:cs typeface="Helvetica Neue"/>
              </a:rPr>
              <a:t>Nasi Li-Purcell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Slow and High-Stakes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34440" y="3017520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  <a:cs typeface="Helvetica Neue"/>
              </a:rPr>
              <a:t>Manual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</a:pPr>
            <a:r>
              <a:rPr sz="1500" b="0" i="0">
                <a:solidFill>
                  <a:srgbClr val="C4C4C8"/>
                </a:solidFill>
                <a:latin typeface="Helvetica Neue"/>
                <a:cs typeface="Helvetica Neue"/>
              </a:rPr>
              <a:t>Time-consuming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280" y="3017520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  <a:cs typeface="Helvetica Neue"/>
              </a:rPr>
              <a:t>Compliance</a:t>
            </a:r>
          </a:p>
          <a:p>
            <a:pPr algn="ctr">
              <a:lnSpc>
                <a:spcPct val="105000"/>
              </a:lnSpc>
              <a:spcBef>
                <a:spcPts val="600"/>
              </a:spcBef>
            </a:pPr>
            <a:r>
              <a:rPr sz="1500" b="0" i="0">
                <a:solidFill>
                  <a:srgbClr val="C4C4C8"/>
                </a:solidFill>
                <a:latin typeface="Helvetica Neue"/>
                <a:cs typeface="Helvetica Neue"/>
              </a:rPr>
              <a:t>High-stakes if wrong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What the System Delivers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1168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3957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4AA9EE"/>
                </a:solidFill>
                <a:latin typeface="Helvetica Neue"/>
                <a:cs typeface="Helvetica Neue"/>
              </a:rPr>
              <a:t>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035808"/>
            <a:ext cx="287121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4C4C8"/>
                </a:solidFill>
                <a:latin typeface="Helvetica Neue"/>
                <a:cs typeface="Helvetica Neue"/>
              </a:rPr>
              <a:t>Every parsed clause and every extracted rule carries its exact source: file, page, character span, on-page bounding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59" y="201168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1" y="23957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4AA9EE"/>
                </a:solidFill>
                <a:latin typeface="Helvetica Neue"/>
                <a:cs typeface="Helvetica Neue"/>
              </a:rPr>
              <a:t>Auto-detect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1" y="3035808"/>
            <a:ext cx="287121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4C4C8"/>
                </a:solidFill>
                <a:latin typeface="Helvetica Neue"/>
                <a:cs typeface="Helvetica Neue"/>
              </a:rPr>
              <a:t>A vendor's submission is automatically resolved, read, and checked against the tender's own rules — no manual page-hunting.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01168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23957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4AA9EE"/>
                </a:solidFill>
                <a:latin typeface="Helvetica Neue"/>
                <a:cs typeface="Helvetica Neue"/>
              </a:rPr>
              <a:t>Human-in-the-loop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3035808"/>
            <a:ext cx="287121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4C4C8"/>
                </a:solidFill>
                <a:latin typeface="Helvetica Neue"/>
                <a:cs typeface="Helvetica Neue"/>
              </a:rPr>
              <a:t>Nothing ships as a silent verdict. Flagged fields get a real Confirm / Reject / Note action, logged with who and when.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Two-Stage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3619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C4C8"/>
                </a:solidFill>
                <a:latin typeface="Helvetica Neue"/>
                <a:cs typeface="Helvetica Neue"/>
              </a:rPr>
              <a:t>One rubric, authored once — evaluated against every vendor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75104"/>
            <a:ext cx="11183111" cy="1371600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83664"/>
            <a:ext cx="2148840" cy="274320"/>
          </a:xfrm>
          <a:prstGeom prst="roundRect">
            <a:avLst>
              <a:gd name="adj" fmla="val 40000"/>
            </a:avLst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000000"/>
                </a:solidFill>
                <a:latin typeface="Helvetica Neue"/>
                <a:cs typeface="Helvetica Neue"/>
              </a:rPr>
              <a:t>STAGE 1 · RULE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395728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778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  <a:cs typeface="Helvetica Neue"/>
              </a:rPr>
              <a:t>Tender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395728"/>
            <a:ext cx="2331720" cy="786384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2794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  <a:cs typeface="Helvetica Neue"/>
              </a:rPr>
              <a:t>RULE EXTRACTION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parse + author rubric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95728"/>
            <a:ext cx="2240280" cy="786384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7780">
            <a:solidFill>
              <a:srgbClr val="E0B8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  <a:cs typeface="Helvetica Neue"/>
              </a:rPr>
              <a:t>Rule Rubric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JSON, per schedule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788920"/>
            <a:ext cx="292608" cy="0"/>
          </a:xfrm>
          <a:prstGeom prst="line">
            <a:avLst/>
          </a:prstGeom>
          <a:ln w="2032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788920"/>
            <a:ext cx="521209" cy="0"/>
          </a:xfrm>
          <a:prstGeom prst="line">
            <a:avLst/>
          </a:prstGeom>
          <a:ln w="2032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3639312"/>
            <a:ext cx="11183111" cy="2487168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547872"/>
            <a:ext cx="2240280" cy="274320"/>
          </a:xfrm>
          <a:prstGeom prst="roundRect">
            <a:avLst>
              <a:gd name="adj" fmla="val 40000"/>
            </a:avLst>
          </a:prstGeom>
          <a:solidFill>
            <a:srgbClr val="4AA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000000"/>
                </a:solidFill>
                <a:latin typeface="Helvetica Neue"/>
                <a:cs typeface="Helvetica Neue"/>
              </a:rPr>
              <a:t>STAGE 2 · RULE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913632"/>
            <a:ext cx="27432" cy="182880"/>
          </a:xfrm>
          <a:prstGeom prst="rect">
            <a:avLst/>
          </a:prstGeom>
          <a:solidFill>
            <a:srgbClr val="9A9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4078224"/>
            <a:ext cx="7818120" cy="27432"/>
          </a:xfrm>
          <a:prstGeom prst="rect">
            <a:avLst/>
          </a:prstGeom>
          <a:solidFill>
            <a:srgbClr val="9A9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766060" y="4078224"/>
            <a:ext cx="0" cy="182880"/>
          </a:xfrm>
          <a:prstGeom prst="line">
            <a:avLst/>
          </a:prstGeom>
          <a:ln w="1524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600200" y="4261104"/>
            <a:ext cx="2331720" cy="402336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524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  <a:cs typeface="Helvetica Neue"/>
              </a:rPr>
              <a:t>Vendor 1 Documents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66060" y="4663440"/>
            <a:ext cx="0" cy="164592"/>
          </a:xfrm>
          <a:prstGeom prst="line">
            <a:avLst/>
          </a:prstGeom>
          <a:ln w="1524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600200" y="4828032"/>
            <a:ext cx="2331720" cy="64008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2540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Helvetica Neue"/>
                <a:cs typeface="Helvetica Neue"/>
              </a:rPr>
              <a:t>RULE EVALUATION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vendor docs + rule rubric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66060" y="5468112"/>
            <a:ext cx="0" cy="164592"/>
          </a:xfrm>
          <a:prstGeom prst="line">
            <a:avLst/>
          </a:prstGeom>
          <a:ln w="1524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600200" y="5632704"/>
            <a:ext cx="2331720" cy="36576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524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  <a:cs typeface="Helvetica Neue"/>
              </a:rPr>
              <a:t>Verdict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57900" y="4078224"/>
            <a:ext cx="0" cy="182880"/>
          </a:xfrm>
          <a:prstGeom prst="line">
            <a:avLst/>
          </a:prstGeom>
          <a:ln w="1524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92040" y="4261104"/>
            <a:ext cx="2331720" cy="402336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524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8E8E93"/>
                </a:solidFill>
                <a:latin typeface="Helvetica Neue"/>
                <a:cs typeface="Helvetica Neue"/>
              </a:rPr>
              <a:t>Vendor 2 Documents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7900" y="4663440"/>
            <a:ext cx="0" cy="164592"/>
          </a:xfrm>
          <a:prstGeom prst="line">
            <a:avLst/>
          </a:prstGeom>
          <a:ln w="1524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92040" y="4828032"/>
            <a:ext cx="2331720" cy="64008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25400">
            <a:solidFill>
              <a:srgbClr val="405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8E8E93"/>
                </a:solidFill>
                <a:latin typeface="Helvetica Neue"/>
                <a:cs typeface="Helvetica Neue"/>
              </a:rPr>
              <a:t>RULE EVALUATION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vendor docs + rule rubric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57900" y="5468112"/>
            <a:ext cx="0" cy="164592"/>
          </a:xfrm>
          <a:prstGeom prst="line">
            <a:avLst/>
          </a:prstGeom>
          <a:ln w="1524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92040" y="5632704"/>
            <a:ext cx="2331720" cy="36576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524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8E8E93"/>
                </a:solidFill>
                <a:latin typeface="Helvetica Neue"/>
                <a:cs typeface="Helvetica Neue"/>
              </a:rPr>
              <a:t>Verdict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9740" y="4078224"/>
            <a:ext cx="0" cy="182880"/>
          </a:xfrm>
          <a:prstGeom prst="line">
            <a:avLst/>
          </a:prstGeom>
          <a:ln w="15240">
            <a:solidFill>
              <a:srgbClr val="9A9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83879" y="4261104"/>
            <a:ext cx="2331720" cy="402336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524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8E8E93"/>
                </a:solidFill>
                <a:latin typeface="Helvetica Neue"/>
                <a:cs typeface="Helvetica Neue"/>
              </a:rPr>
              <a:t>Vendor N Documents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49740" y="4663440"/>
            <a:ext cx="0" cy="164592"/>
          </a:xfrm>
          <a:prstGeom prst="line">
            <a:avLst/>
          </a:prstGeom>
          <a:ln w="1524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4828032"/>
            <a:ext cx="2331720" cy="64008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25400">
            <a:solidFill>
              <a:srgbClr val="405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8E8E93"/>
                </a:solidFill>
                <a:latin typeface="Helvetica Neue"/>
                <a:cs typeface="Helvetica Neue"/>
              </a:rPr>
              <a:t>RULE EVALUATION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vendor docs + rule rubric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49740" y="5468112"/>
            <a:ext cx="0" cy="164592"/>
          </a:xfrm>
          <a:prstGeom prst="line">
            <a:avLst/>
          </a:prstGeom>
          <a:ln w="1524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83879" y="5632704"/>
            <a:ext cx="2331720" cy="36576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524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8E8E93"/>
                </a:solidFill>
                <a:latin typeface="Helvetica Neue"/>
                <a:cs typeface="Helvetica Neue"/>
              </a:rPr>
              <a:t>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17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8E8E93"/>
                </a:solidFill>
                <a:latin typeface="Helvetica Neue"/>
                <a:cs typeface="Helvetica Neue"/>
              </a:rPr>
              <a:t>Vendor 1 is real, tested end to end. The same rubric is designed to apply unchanged to every other vendor in the tender.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Step-by-Step System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7554" y="1886096"/>
            <a:ext cx="1346433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Tender Docs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73274" y="1886096"/>
            <a:ext cx="987384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8286" y="1676098"/>
            <a:ext cx="17373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DETERMINISTIC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9945" y="1886096"/>
            <a:ext cx="1525957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Resolve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4244" y="1676098"/>
            <a:ext cx="17373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A9EE"/>
                </a:solidFill>
                <a:latin typeface="Helvetica Neue"/>
                <a:cs typeface="Helvetica Neue"/>
              </a:rPr>
              <a:t>DETERMINISTIC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14951" y="1886096"/>
            <a:ext cx="1346433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Author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9488" y="1676098"/>
            <a:ext cx="17373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CB885"/>
                </a:solidFill>
                <a:latin typeface="Helvetica Neue"/>
                <a:cs typeface="Helvetica Neue"/>
              </a:rPr>
              <a:t>HUMAN +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0888" y="2304433"/>
            <a:ext cx="21945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AA9EE"/>
                </a:solidFill>
                <a:latin typeface="Helvetica Neue"/>
                <a:cs typeface="Helvetica Neue"/>
              </a:rPr>
              <a:t>126 rules · 13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0671" y="1886096"/>
            <a:ext cx="1346433" cy="412906"/>
          </a:xfrm>
          <a:prstGeom prst="roundRect">
            <a:avLst>
              <a:gd name="adj" fmla="val 6000"/>
            </a:avLst>
          </a:prstGeom>
          <a:solidFill>
            <a:srgbClr val="3A3A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  <a:cs typeface="Helvetica Neue"/>
              </a:rPr>
              <a:t>Rule Rubric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3987" y="2092549"/>
            <a:ext cx="233382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60658" y="2092549"/>
            <a:ext cx="233382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55902" y="2092549"/>
            <a:ext cx="323144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1384" y="2092549"/>
            <a:ext cx="233382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57554" y="3412054"/>
            <a:ext cx="1346433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Vendor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91" y="3830391"/>
            <a:ext cx="26517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1 of N vendors, human-triggered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3274" y="3412054"/>
            <a:ext cx="1346433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Classify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3531" y="3202055"/>
            <a:ext cx="164592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LLM ·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9211" y="3830391"/>
            <a:ext cx="21945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AA9EE"/>
                </a:solidFill>
                <a:latin typeface="Helvetica Neue"/>
                <a:cs typeface="Helvetica Neue"/>
              </a:rPr>
              <a:t>vision_index.json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8756" y="3412054"/>
            <a:ext cx="987384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Resolve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0928" y="3202055"/>
            <a:ext cx="146304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LLM · 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5189" y="3412054"/>
            <a:ext cx="987384" cy="412906"/>
          </a:xfrm>
          <a:prstGeom prst="roundRect">
            <a:avLst>
              <a:gd name="adj" fmla="val 6000"/>
            </a:avLst>
          </a:prstGeom>
          <a:solidFill>
            <a:srgbClr val="2C2C2E"/>
          </a:solidFill>
          <a:ln w="19050">
            <a:solidFill>
              <a:srgbClr val="4A5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Helvetica Neue"/>
                <a:cs typeface="Helvetica Neue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921" y="3202055"/>
            <a:ext cx="164592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LLM ·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3081" y="3848343"/>
            <a:ext cx="137160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AA9EE"/>
                </a:solidFill>
                <a:latin typeface="Helvetica Neue"/>
                <a:cs typeface="Helvetica Neue"/>
              </a:rPr>
              <a:t>vendor_extractions.db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1622" y="3412054"/>
            <a:ext cx="987384" cy="412906"/>
          </a:xfrm>
          <a:prstGeom prst="roundRect">
            <a:avLst>
              <a:gd name="adj" fmla="val 6000"/>
            </a:avLst>
          </a:prstGeom>
          <a:solidFill>
            <a:srgbClr val="3A3A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  <a:cs typeface="Helvetica Neue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0452" y="3063515"/>
            <a:ext cx="1234440" cy="1476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AA9EE"/>
                </a:solidFill>
                <a:latin typeface="Helvetica Neue"/>
                <a:cs typeface="Helvetica Neue"/>
              </a:rPr>
              <a:t>DETERMINISTIC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0432" y="3207134"/>
            <a:ext cx="1554480" cy="1476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B885"/>
                </a:solidFill>
                <a:latin typeface="Helvetica Neue"/>
                <a:cs typeface="Helvetica Neue"/>
              </a:rPr>
              <a:t>+ HUMAN (IF FLAGGED)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03987" y="3618507"/>
            <a:ext cx="233382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19707" y="3618507"/>
            <a:ext cx="323144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66140" y="3618507"/>
            <a:ext cx="323144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12573" y="3618507"/>
            <a:ext cx="323144" cy="0"/>
          </a:xfrm>
          <a:prstGeom prst="line">
            <a:avLst/>
          </a:prstGeom>
          <a:ln w="1905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3887" y="2299002"/>
            <a:ext cx="0" cy="574479"/>
          </a:xfrm>
          <a:prstGeom prst="line">
            <a:avLst/>
          </a:prstGeom>
          <a:ln w="19050">
            <a:solidFill>
              <a:srgbClr val="4AA9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234455" y="2873481"/>
            <a:ext cx="969432" cy="0"/>
          </a:xfrm>
          <a:prstGeom prst="line">
            <a:avLst/>
          </a:prstGeom>
          <a:ln w="19050">
            <a:solidFill>
              <a:srgbClr val="4AA9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34455" y="2873481"/>
            <a:ext cx="0" cy="502668"/>
          </a:xfrm>
          <a:prstGeom prst="line">
            <a:avLst/>
          </a:prstGeom>
          <a:ln w="19050">
            <a:solidFill>
              <a:srgbClr val="4AA9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20578" y="2708363"/>
            <a:ext cx="237744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A9EE"/>
                </a:solidFill>
                <a:latin typeface="Helvetica Neue"/>
                <a:cs typeface="Helvetica Neue"/>
              </a:rPr>
              <a:t>reused for every check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45664" y="4668725"/>
            <a:ext cx="897622" cy="359048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 w="19050">
            <a:solidFill>
              <a:srgbClr val="5CB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5CB885"/>
                </a:solidFill>
                <a:latin typeface="Helvetica Neue"/>
                <a:cs typeface="Helvetica Neue"/>
              </a:rPr>
              <a:t>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573" y="4668725"/>
            <a:ext cx="1256670" cy="359048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 w="19050">
            <a:solidFill>
              <a:srgbClr val="E0B8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E0B869"/>
                </a:solidFill>
                <a:latin typeface="Helvetica Neue"/>
                <a:cs typeface="Helvetica Neue"/>
              </a:rPr>
              <a:t>Needs 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8531" y="4668725"/>
            <a:ext cx="1256670" cy="359048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 w="19050">
            <a:solidFill>
              <a:srgbClr val="E07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E07A68"/>
                </a:solidFill>
                <a:latin typeface="Helvetica Neue"/>
                <a:cs typeface="Helvetica Neue"/>
              </a:rPr>
              <a:t>Disqualified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4488" y="4668725"/>
            <a:ext cx="987384" cy="359048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 w="19050">
            <a:solidFill>
              <a:srgbClr val="8E8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8E8E93"/>
                </a:solidFill>
                <a:latin typeface="Helvetica Neue"/>
                <a:cs typeface="Helvetica Neue"/>
              </a:rPr>
              <a:t>Dormant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130380" y="3878817"/>
            <a:ext cx="1561863" cy="75400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458861" y="3878817"/>
            <a:ext cx="233382" cy="75400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92243" y="3878817"/>
            <a:ext cx="1256671" cy="75400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92243" y="3878817"/>
            <a:ext cx="2621056" cy="75400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72448" y="3824960"/>
            <a:ext cx="0" cy="592430"/>
          </a:xfrm>
          <a:prstGeom prst="line">
            <a:avLst/>
          </a:prstGeom>
          <a:ln w="16510">
            <a:solidFill>
              <a:srgbClr val="8E8E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72448" y="4417390"/>
            <a:ext cx="2199174" cy="0"/>
          </a:xfrm>
          <a:prstGeom prst="line">
            <a:avLst/>
          </a:prstGeom>
          <a:ln w="16510">
            <a:solidFill>
              <a:srgbClr val="8E8E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71622" y="4417390"/>
            <a:ext cx="0" cy="233382"/>
          </a:xfrm>
          <a:prstGeom prst="line">
            <a:avLst/>
          </a:prstGeom>
          <a:ln w="16510">
            <a:solidFill>
              <a:srgbClr val="8E8E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35282" y="4225344"/>
            <a:ext cx="146304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not found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66140" y="5674061"/>
            <a:ext cx="5026683" cy="394953"/>
          </a:xfrm>
          <a:prstGeom prst="roundRect">
            <a:avLst>
              <a:gd name="adj" fmla="val 6000"/>
            </a:avLst>
          </a:prstGeom>
          <a:solidFill>
            <a:srgbClr val="3A3A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918" b="1" i="0">
                <a:solidFill>
                  <a:srgbClr val="FFFFFF"/>
                </a:solidFill>
                <a:latin typeface="Helvetica Neue"/>
                <a:cs typeface="Helvetica Neue"/>
              </a:rPr>
              <a:t>Report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94475" y="5027773"/>
            <a:ext cx="179525" cy="61038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966866" y="5027773"/>
            <a:ext cx="89762" cy="61038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954250" y="5027773"/>
            <a:ext cx="403930" cy="61038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40909" y="5027773"/>
            <a:ext cx="179524" cy="610383"/>
          </a:xfrm>
          <a:prstGeom prst="line">
            <a:avLst/>
          </a:prstGeom>
          <a:ln w="16510">
            <a:solidFill>
              <a:srgbClr val="9A9A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516603" y="5607682"/>
            <a:ext cx="26517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8E93"/>
                </a:solidFill>
                <a:latin typeface="Helvetica Neue"/>
                <a:cs typeface="Helvetica Neue"/>
              </a:rPr>
              <a:t>after reviewer confirms / rejects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6603" y="5805159"/>
            <a:ext cx="1280160" cy="17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A9EE"/>
                </a:solidFill>
                <a:latin typeface="Helvetica Neue"/>
                <a:cs typeface="Helvetica Neue"/>
              </a:rPr>
              <a:t>rtm.db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73152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AA9EE"/>
                </a:solidFill>
                <a:latin typeface="Helvetica Neue"/>
                <a:cs typeface="Helvetica Neue"/>
              </a:rPr>
              <a:t>Three Evals Against Real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17904"/>
            <a:ext cx="548640" cy="310896"/>
          </a:xfrm>
          <a:prstGeom prst="roundRect">
            <a:avLst>
              <a:gd name="adj" fmla="val 5000"/>
            </a:avLst>
          </a:prstGeom>
          <a:solidFill>
            <a:srgbClr val="3A3A3C"/>
          </a:solidFill>
          <a:ln w="1397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Helvetica Neue"/>
                <a:cs typeface="Helvetica Neue"/>
              </a:rPr>
              <a:t>Parse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39" y="1517904"/>
            <a:ext cx="1338681" cy="310896"/>
          </a:xfrm>
          <a:prstGeom prst="roundRect">
            <a:avLst>
              <a:gd name="adj" fmla="val 5000"/>
            </a:avLst>
          </a:prstGeom>
          <a:solidFill>
            <a:srgbClr val="3A3A3C"/>
          </a:solidFill>
          <a:ln w="1397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Helvetica Neue"/>
                <a:cs typeface="Helvetica Neue"/>
              </a:rPr>
              <a:t>Resolve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3121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6001" y="1517904"/>
            <a:ext cx="1075334" cy="310896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E8E93"/>
                </a:solidFill>
                <a:latin typeface="Helvetica Neue"/>
                <a:cs typeface="Helvetica Neue"/>
              </a:rPr>
              <a:t>Author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1336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4216" y="1517904"/>
            <a:ext cx="943660" cy="310896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E8E93"/>
                </a:solidFill>
                <a:latin typeface="Helvetica Neue"/>
                <a:cs typeface="Helvetica Neue"/>
              </a:rPr>
              <a:t>Rule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7876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0756" y="1517904"/>
            <a:ext cx="746150" cy="310896"/>
          </a:xfrm>
          <a:prstGeom prst="roundRect">
            <a:avLst>
              <a:gd name="adj" fmla="val 5000"/>
            </a:avLst>
          </a:prstGeom>
          <a:solidFill>
            <a:srgbClr val="3A3A3C"/>
          </a:solidFill>
          <a:ln w="1397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Helvetica Neue"/>
                <a:cs typeface="Helvetica Neue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6907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69787" y="1517904"/>
            <a:ext cx="680313" cy="310896"/>
          </a:xfrm>
          <a:prstGeom prst="roundRect">
            <a:avLst>
              <a:gd name="adj" fmla="val 5000"/>
            </a:avLst>
          </a:prstGeom>
          <a:solidFill>
            <a:srgbClr val="3A3A3C"/>
          </a:solidFill>
          <a:ln w="1397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Helvetica Neue"/>
                <a:cs typeface="Helvetica Neue"/>
              </a:rPr>
              <a:t>Resolve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0100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32980" y="1517904"/>
            <a:ext cx="680313" cy="310896"/>
          </a:xfrm>
          <a:prstGeom prst="roundRect">
            <a:avLst>
              <a:gd name="adj" fmla="val 5000"/>
            </a:avLst>
          </a:prstGeom>
          <a:solidFill>
            <a:srgbClr val="3A3A3C"/>
          </a:solidFill>
          <a:ln w="13970">
            <a:solidFill>
              <a:srgbClr val="4A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Helvetica Neue"/>
                <a:cs typeface="Helvetica Neue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3294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6174" y="1517904"/>
            <a:ext cx="548640" cy="310896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E8E93"/>
                </a:solidFill>
                <a:latin typeface="Helvetica Neue"/>
                <a:cs typeface="Helvetica Neue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4814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7694" y="1517904"/>
            <a:ext cx="680313" cy="310896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E8E93"/>
                </a:solidFill>
                <a:latin typeface="Helvetica Neue"/>
                <a:cs typeface="Helvetica Neue"/>
              </a:rP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1563624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E8E93"/>
                </a:solidFill>
                <a:latin typeface="Helvetica Neue"/>
                <a:cs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0887" y="1517904"/>
            <a:ext cx="614476" cy="310896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E8E93"/>
                </a:solidFill>
                <a:latin typeface="Helvetica Neue"/>
                <a:cs typeface="Helvetica Neue"/>
              </a:rPr>
              <a:t>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1911095"/>
            <a:ext cx="11183111" cy="2523744"/>
          </a:xfrm>
          <a:prstGeom prst="roundRect">
            <a:avLst>
              <a:gd name="adj" fmla="val 5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05740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AA9EE"/>
                </a:solidFill>
                <a:latin typeface="Helvetica Neue"/>
                <a:cs typeface="Helvetica Neue"/>
              </a:rPr>
              <a:t>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0574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AA9EE"/>
                </a:solidFill>
                <a:latin typeface="Helvetica Neue"/>
                <a:cs typeface="Helvetica Neue"/>
              </a:rPr>
              <a:t>DATASET /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0574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4AA9EE"/>
                </a:solidFill>
                <a:latin typeface="Helvetica Neue"/>
                <a:cs typeface="Helvetica Neue"/>
              </a:rPr>
              <a:t>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350008"/>
            <a:ext cx="10543032" cy="10972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255117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Helvetica Neue"/>
                <a:cs typeface="Helvetica Neue"/>
              </a:rPr>
              <a:t>Parse + Citation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56946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4C4C8"/>
                </a:solidFill>
                <a:latin typeface="Helvetica Neue"/>
                <a:cs typeface="Helvetica Neue"/>
              </a:rPr>
              <a:t>traceability_groundtruth_eval_2.md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55117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 i="0">
                <a:solidFill>
                  <a:srgbClr val="E0B869"/>
                </a:solidFill>
                <a:latin typeface="Helvetica Neue"/>
                <a:cs typeface="Helvetica Neue"/>
              </a:rPr>
              <a:t>239/241 resolved · 99.2%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090672"/>
            <a:ext cx="10543032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2095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Helvetica Neue"/>
                <a:cs typeface="Helvetica Neue"/>
              </a:rPr>
              <a:t>Vision Extraction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2278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4C4C8"/>
                </a:solidFill>
                <a:latin typeface="Helvetica Neue"/>
                <a:cs typeface="Helvetica Neue"/>
              </a:rPr>
              <a:t>eval_dataset_20.py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20954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 i="0">
                <a:solidFill>
                  <a:srgbClr val="E0B869"/>
                </a:solidFill>
                <a:latin typeface="Helvetica Neue"/>
                <a:cs typeface="Helvetica Neue"/>
              </a:rPr>
              <a:t>20/20 · 100%*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749039"/>
            <a:ext cx="10543032" cy="731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867911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Helvetica Neue"/>
                <a:cs typeface="Helvetica Neue"/>
              </a:rPr>
              <a:t>Resolve (semantic search)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8862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4C4C8"/>
                </a:solidFill>
                <a:latin typeface="Helvetica Neue"/>
                <a:cs typeface="Helvetica Neue"/>
              </a:rPr>
              <a:t>vendor_check_orchestrator.py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867911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 i="0">
                <a:solidFill>
                  <a:srgbClr val="E0B869"/>
                </a:solidFill>
                <a:latin typeface="Helvetica Neue"/>
                <a:cs typeface="Helvetica Neue"/>
              </a:rPr>
              <a:t>12/12 attempted found a real 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46320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8E8E93"/>
                </a:solidFill>
                <a:latin typeface="Helvetica Neue"/>
                <a:cs typeface="Helvetica Neue"/>
              </a:rPr>
              <a:t>*Vision extraction: small, selection-biased sample, near-zero coverage of the messiest tender.  Resolve: only 12 of 15 items have anything to look for — the other 3 never attempt resolve at all (physical sample, covered by a sibling rule, or extractor not yet built), not 3 failed attempts. Of those 12, literal title matches are reliable across repeat calls; semantic-only matches have proven non-reproducible (5 identical calls, same input, temperature 0 — found/not-found flipped) — routed to human review rather than trusted blind.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